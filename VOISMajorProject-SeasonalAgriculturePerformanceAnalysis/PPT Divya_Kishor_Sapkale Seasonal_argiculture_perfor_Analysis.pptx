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2"/>
  </p:notesMasterIdLst>
  <p:handoutMasterIdLst>
    <p:handoutMasterId r:id="rId23"/>
  </p:handoutMasterIdLst>
  <p:sldIdLst>
    <p:sldId id="338" r:id="rId5"/>
    <p:sldId id="327" r:id="rId6"/>
    <p:sldId id="347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8" r:id="rId15"/>
    <p:sldId id="349" r:id="rId16"/>
    <p:sldId id="350" r:id="rId17"/>
    <p:sldId id="341" r:id="rId18"/>
    <p:sldId id="342" r:id="rId19"/>
    <p:sldId id="343" r:id="rId20"/>
    <p:sldId id="30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86" autoAdjust="0"/>
    <p:restoredTop sz="95033" autoAdjust="0"/>
  </p:normalViewPr>
  <p:slideViewPr>
    <p:cSldViewPr snapToGrid="0">
      <p:cViewPr varScale="1">
        <p:scale>
          <a:sx n="95" d="100"/>
          <a:sy n="95" d="100"/>
        </p:scale>
        <p:origin x="216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9/8/2026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vyaskrd/Seasonal-Agriculture-Performance-Analysis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7406" y="3770036"/>
            <a:ext cx="7600626" cy="86149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IN" dirty="0">
                <a:solidFill>
                  <a:schemeClr val="tx1"/>
                </a:solidFill>
              </a:rPr>
              <a:t>NAME : Divya Kishor </a:t>
            </a:r>
            <a:r>
              <a:rPr lang="en-IN" dirty="0" err="1">
                <a:solidFill>
                  <a:schemeClr val="tx1"/>
                </a:solidFill>
              </a:rPr>
              <a:t>Sapkale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COLLAGE : Sandip Institute of Technology and Research Centre, Nashik</a:t>
            </a:r>
          </a:p>
          <a:p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06" y="2623336"/>
            <a:ext cx="7432615" cy="1032162"/>
          </a:xfrm>
        </p:spPr>
        <p:txBody>
          <a:bodyPr>
            <a:normAutofit fontScale="90000"/>
          </a:bodyPr>
          <a:lstStyle/>
          <a:p>
            <a:r>
              <a:rPr lang="en-GB" sz="32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Project Title - </a:t>
            </a: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746071"/>
            <a:ext cx="6766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STU6a673008799821785147400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2759044"/>
            <a:ext cx="6949204" cy="360798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IN" sz="2800" dirty="0"/>
              <a:t>Agricultural performance varies across seasons due to changes in </a:t>
            </a:r>
            <a:r>
              <a:rPr lang="en-IN" sz="2800" b="1" dirty="0"/>
              <a:t>environmental conditions, farming practices, resource availability, and market conditions</a:t>
            </a:r>
            <a:r>
              <a:rPr lang="en-IN" sz="2800" dirty="0"/>
              <a:t>.</a:t>
            </a:r>
          </a:p>
          <a:p>
            <a:r>
              <a:rPr lang="en-IN" sz="2800" dirty="0"/>
              <a:t>However, raw agricultural data does not clearly reveal </a:t>
            </a:r>
            <a:r>
              <a:rPr lang="en-IN" sz="2800" b="1" dirty="0"/>
              <a:t>how performance changes between seasons</a:t>
            </a:r>
            <a:r>
              <a:rPr lang="en-IN" sz="2800" dirty="0"/>
              <a:t> or what meaningful patterns and relationships exist.</a:t>
            </a:r>
          </a:p>
          <a:p>
            <a:r>
              <a:rPr lang="en-IN" sz="2800" b="1" dirty="0"/>
              <a:t>Therefore, this project </a:t>
            </a:r>
            <a:r>
              <a:rPr lang="en-IN" sz="2800" b="1" dirty="0" err="1"/>
              <a:t>analyzes</a:t>
            </a:r>
            <a:r>
              <a:rPr lang="en-IN" sz="2800" b="1" dirty="0"/>
              <a:t> the agricultural dataset to identify seasonal differences, trends, relationships, variations, and performance patterns to support evidence-based agricultural planning.</a:t>
            </a:r>
            <a:endParaRPr lang="en-IN" sz="2800" dirty="0"/>
          </a:p>
          <a:p>
            <a:pPr>
              <a:lnSpc>
                <a:spcPct val="10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490969"/>
            <a:ext cx="6995604" cy="790111"/>
          </a:xfrm>
        </p:spPr>
        <p:txBody>
          <a:bodyPr>
            <a:normAutofit fontScale="90000"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i="1" u="sng" dirty="0">
                <a:solidFill>
                  <a:schemeClr val="accent1">
                    <a:lumMod val="75000"/>
                  </a:schemeClr>
                </a:solidFill>
              </a:rPr>
              <a:t>PROBLEM  STATEMENT</a:t>
            </a:r>
            <a:endParaRPr lang="en-IN" i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EC5598-4D52-1A05-9AF4-1E31081F0245}"/>
              </a:ext>
            </a:extLst>
          </p:cNvPr>
          <p:cNvSpPr txBox="1"/>
          <p:nvPr/>
        </p:nvSpPr>
        <p:spPr>
          <a:xfrm>
            <a:off x="754602" y="1385969"/>
            <a:ext cx="54200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Seasonal Differences</a:t>
            </a:r>
            <a:r>
              <a:rPr lang="en-IN" dirty="0"/>
              <a:t> | </a:t>
            </a:r>
            <a:r>
              <a:rPr lang="en-IN" b="1" dirty="0"/>
              <a:t>Patterns &amp; Trends</a:t>
            </a:r>
            <a:r>
              <a:rPr lang="en-IN" dirty="0"/>
              <a:t> | </a:t>
            </a:r>
            <a:r>
              <a:rPr lang="en-IN" b="1" dirty="0"/>
              <a:t>Resource Usage</a:t>
            </a:r>
            <a:r>
              <a:rPr lang="en-IN" dirty="0"/>
              <a:t> | </a:t>
            </a:r>
            <a:r>
              <a:rPr lang="en-IN" b="1" dirty="0"/>
              <a:t>Environmental Conditions</a:t>
            </a:r>
            <a:r>
              <a:rPr lang="en-IN" dirty="0"/>
              <a:t> | </a:t>
            </a:r>
            <a:r>
              <a:rPr lang="en-IN" b="1" dirty="0"/>
              <a:t>Economic Performance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8C5A3-6C0E-B9C8-927E-1D66976F2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7439" y="285061"/>
            <a:ext cx="7766936" cy="1024466"/>
          </a:xfrm>
        </p:spPr>
        <p:txBody>
          <a:bodyPr/>
          <a:lstStyle/>
          <a:p>
            <a:pPr marL="685800" indent="-685800" algn="l">
              <a:buFont typeface="Wingdings" panose="05000000000000000000" pitchFamily="2" charset="2"/>
              <a:buChar char="v"/>
            </a:pPr>
            <a:r>
              <a:rPr lang="en-GB" i="1" u="sng" dirty="0">
                <a:solidFill>
                  <a:schemeClr val="accent1">
                    <a:lumMod val="75000"/>
                  </a:schemeClr>
                </a:solidFill>
              </a:rPr>
              <a:t>Project Description</a:t>
            </a:r>
            <a:endParaRPr lang="en-IN" i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A9B84-FACC-F25D-9D8F-EDF6D6B41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E6795B-DD46-727D-58BF-274053DE3115}"/>
              </a:ext>
            </a:extLst>
          </p:cNvPr>
          <p:cNvSpPr txBox="1"/>
          <p:nvPr/>
        </p:nvSpPr>
        <p:spPr>
          <a:xfrm>
            <a:off x="937439" y="2600720"/>
            <a:ext cx="452402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The project uses agricultural data containing: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🌾 Crop &amp; Seasonal Information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🌦️ Environmental Conditions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💧 Resource &amp; Water Usage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📊 Production &amp; Yield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💰 Revenue, Cost &amp; Profit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⚠️ Disease/Pest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5FA547-2B54-F45E-A756-40D88AE7B06F}"/>
              </a:ext>
            </a:extLst>
          </p:cNvPr>
          <p:cNvSpPr txBox="1"/>
          <p:nvPr/>
        </p:nvSpPr>
        <p:spPr>
          <a:xfrm>
            <a:off x="937439" y="1805227"/>
            <a:ext cx="91339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Seasonal Agriculture Performance Analysis</a:t>
            </a:r>
            <a:r>
              <a:rPr lang="en-IN" sz="2000" dirty="0"/>
              <a:t> is a data analytics project that </a:t>
            </a:r>
            <a:r>
              <a:rPr lang="en-IN" sz="2000" dirty="0" err="1"/>
              <a:t>analyzes</a:t>
            </a:r>
            <a:r>
              <a:rPr lang="en-IN" sz="2000" dirty="0"/>
              <a:t> agricultural activities across different </a:t>
            </a:r>
            <a:r>
              <a:rPr lang="en-IN" sz="2000" b="1" dirty="0"/>
              <a:t>seasons, crops, and regions</a:t>
            </a:r>
            <a:r>
              <a:rPr lang="en-IN" sz="20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2C0887-DD2A-AF11-1FE5-5388F6888210}"/>
              </a:ext>
            </a:extLst>
          </p:cNvPr>
          <p:cNvSpPr txBox="1"/>
          <p:nvPr/>
        </p:nvSpPr>
        <p:spPr>
          <a:xfrm>
            <a:off x="5461460" y="2643296"/>
            <a:ext cx="34777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What the project does:</a:t>
            </a:r>
          </a:p>
          <a:p>
            <a:br>
              <a:rPr lang="en-IN" dirty="0"/>
            </a:br>
            <a:r>
              <a:rPr lang="en-IN" dirty="0"/>
              <a:t>           Data Cleaning </a:t>
            </a:r>
          </a:p>
          <a:p>
            <a:r>
              <a:rPr lang="en-IN" dirty="0"/>
              <a:t>                    ↓ </a:t>
            </a:r>
          </a:p>
          <a:p>
            <a:r>
              <a:rPr lang="en-IN" dirty="0"/>
              <a:t>       Exploratory Analysis</a:t>
            </a:r>
          </a:p>
          <a:p>
            <a:r>
              <a:rPr lang="en-IN" dirty="0"/>
              <a:t>                    ↓ </a:t>
            </a:r>
          </a:p>
          <a:p>
            <a:r>
              <a:rPr lang="en-IN" dirty="0"/>
              <a:t>      Seasonal Comparison</a:t>
            </a:r>
          </a:p>
          <a:p>
            <a:r>
              <a:rPr lang="en-IN" dirty="0"/>
              <a:t>                    ↓ </a:t>
            </a:r>
          </a:p>
          <a:p>
            <a:r>
              <a:rPr lang="en-IN" dirty="0"/>
              <a:t>      Relationship Analysis</a:t>
            </a:r>
          </a:p>
          <a:p>
            <a:r>
              <a:rPr lang="en-IN" dirty="0"/>
              <a:t>                    ↓ </a:t>
            </a:r>
          </a:p>
          <a:p>
            <a:r>
              <a:rPr lang="en-IN" dirty="0"/>
              <a:t>         Statistical Testing</a:t>
            </a:r>
          </a:p>
          <a:p>
            <a:r>
              <a:rPr lang="en-IN" dirty="0"/>
              <a:t>                    ↓ </a:t>
            </a:r>
          </a:p>
          <a:p>
            <a:r>
              <a:rPr lang="en-IN" dirty="0"/>
              <a:t>   Insights &amp; Recommendations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9DAC19E-200F-DC12-1107-C398920FF09C}"/>
              </a:ext>
            </a:extLst>
          </p:cNvPr>
          <p:cNvCxnSpPr/>
          <p:nvPr/>
        </p:nvCxnSpPr>
        <p:spPr>
          <a:xfrm>
            <a:off x="5081666" y="2773180"/>
            <a:ext cx="0" cy="3633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633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785768"/>
            <a:ext cx="10046070" cy="328090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800" dirty="0"/>
              <a:t>🌾 </a:t>
            </a:r>
            <a:r>
              <a:rPr lang="en-IN" sz="1800" b="1" dirty="0"/>
              <a:t>Farmers &amp; Agricultural Managers</a:t>
            </a:r>
            <a:br>
              <a:rPr lang="en-IN" sz="1800" dirty="0"/>
            </a:br>
            <a:r>
              <a:rPr lang="en-IN" sz="1800" dirty="0"/>
              <a:t>Use seasonal performance insights for crop and resource planning.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/>
              <a:t>🏛️ </a:t>
            </a:r>
            <a:r>
              <a:rPr lang="en-IN" sz="1800" b="1" dirty="0"/>
              <a:t>Agricultural Departments &amp; Government Agencies</a:t>
            </a:r>
            <a:br>
              <a:rPr lang="en-IN" sz="1800" dirty="0"/>
            </a:br>
            <a:r>
              <a:rPr lang="en-IN" sz="1800" dirty="0"/>
              <a:t>Support evidence-based seasonal agricultural planning and policy decisions.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/>
              <a:t>📊 </a:t>
            </a:r>
            <a:r>
              <a:rPr lang="en-IN" sz="1800" b="1" dirty="0"/>
              <a:t>Agricultural Analysts &amp; Researchers</a:t>
            </a:r>
            <a:br>
              <a:rPr lang="en-IN" sz="1800" dirty="0"/>
            </a:br>
            <a:r>
              <a:rPr lang="en-IN" sz="1800" dirty="0"/>
              <a:t>Analyse seasonal trends, relationships, regional variations, and agricultural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/>
              <a:t>💧 </a:t>
            </a:r>
            <a:r>
              <a:rPr lang="en-IN" sz="1800" b="1" dirty="0"/>
              <a:t>Resource Management Teams</a:t>
            </a:r>
            <a:br>
              <a:rPr lang="en-IN" sz="1800" dirty="0"/>
            </a:br>
            <a:r>
              <a:rPr lang="en-IN" sz="1800" dirty="0"/>
              <a:t>Identify variations in water, fertilizer, pesticide, and other resource usage.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/>
              <a:t>💼 </a:t>
            </a:r>
            <a:r>
              <a:rPr lang="en-IN" sz="1800" b="1" dirty="0"/>
              <a:t>Agribusiness &amp; Market Stakeholders</a:t>
            </a:r>
            <a:br>
              <a:rPr lang="en-IN" sz="1800" dirty="0"/>
            </a:br>
            <a:r>
              <a:rPr lang="en-IN" sz="1800" dirty="0"/>
              <a:t>Understand seasonal production, revenue, cost, and profitability patterns.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59" y="801114"/>
            <a:ext cx="10046070" cy="802641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600" i="1" u="sng" dirty="0">
                <a:solidFill>
                  <a:schemeClr val="accent1">
                    <a:lumMod val="75000"/>
                  </a:schemeClr>
                </a:solidFill>
              </a:rPr>
              <a:t>WHO ARE THE END USERS?</a:t>
            </a:r>
            <a:endParaRPr lang="en-IN" sz="3600" i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39816"/>
            <a:ext cx="2181225" cy="485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518D61-27B1-4ED7-6A6B-E33184941B4C}"/>
              </a:ext>
            </a:extLst>
          </p:cNvPr>
          <p:cNvSpPr txBox="1"/>
          <p:nvPr/>
        </p:nvSpPr>
        <p:spPr>
          <a:xfrm>
            <a:off x="1041150" y="5248688"/>
            <a:ext cx="67305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1" u="sng" dirty="0"/>
              <a:t>Key Benefit:</a:t>
            </a:r>
            <a:br>
              <a:rPr lang="en-IN" sz="2400" i="1" u="sng" dirty="0"/>
            </a:br>
            <a:r>
              <a:rPr lang="en-IN" dirty="0"/>
              <a:t>Data-driven insights → Better seasonal planning → Efficient resource utilization → Improved agricultural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0" y="3847976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 fontScale="90000"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i="1" u="sng" dirty="0"/>
              <a:t>Technology Used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385ED71-FBEB-3F6C-8C77-B595880934E4}"/>
              </a:ext>
            </a:extLst>
          </p:cNvPr>
          <p:cNvSpPr/>
          <p:nvPr/>
        </p:nvSpPr>
        <p:spPr>
          <a:xfrm>
            <a:off x="1865125" y="1479530"/>
            <a:ext cx="3156579" cy="23684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3327B9-E6DD-21F3-674A-8351ED23E838}"/>
              </a:ext>
            </a:extLst>
          </p:cNvPr>
          <p:cNvSpPr/>
          <p:nvPr/>
        </p:nvSpPr>
        <p:spPr>
          <a:xfrm>
            <a:off x="2017525" y="1583184"/>
            <a:ext cx="3156579" cy="23684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💻 Programming &amp; Development</a:t>
            </a:r>
          </a:p>
          <a:p>
            <a:endParaRPr lang="en-IN" b="1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Python</a:t>
            </a:r>
            <a:r>
              <a:rPr lang="en-IN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Google </a:t>
            </a:r>
            <a:r>
              <a:rPr lang="en-IN" b="1" dirty="0" err="1"/>
              <a:t>Colab</a:t>
            </a:r>
            <a:r>
              <a:rPr lang="en-IN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Jupyter Notebook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9BB5BA-8901-1D0C-B862-E2FDF2393E57}"/>
              </a:ext>
            </a:extLst>
          </p:cNvPr>
          <p:cNvSpPr/>
          <p:nvPr/>
        </p:nvSpPr>
        <p:spPr>
          <a:xfrm>
            <a:off x="5647527" y="1479530"/>
            <a:ext cx="3156579" cy="23684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022485D-5E51-4296-BC66-24908403882B}"/>
              </a:ext>
            </a:extLst>
          </p:cNvPr>
          <p:cNvSpPr/>
          <p:nvPr/>
        </p:nvSpPr>
        <p:spPr>
          <a:xfrm>
            <a:off x="5799927" y="1583184"/>
            <a:ext cx="3156579" cy="23684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📊 Data Analysis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Pandas</a:t>
            </a:r>
            <a:r>
              <a:rPr lang="en-IN" dirty="0"/>
              <a:t> — Data manipulation &amp; analysis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NumPy</a:t>
            </a:r>
            <a:r>
              <a:rPr lang="en-IN" dirty="0"/>
              <a:t> — Numerical computation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SciPy</a:t>
            </a:r>
            <a:r>
              <a:rPr lang="en-IN" dirty="0"/>
              <a:t> — Statistical analysis</a:t>
            </a:r>
          </a:p>
          <a:p>
            <a:pPr algn="ctr"/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728B75-F401-06D3-F117-9FD05E611611}"/>
              </a:ext>
            </a:extLst>
          </p:cNvPr>
          <p:cNvSpPr/>
          <p:nvPr/>
        </p:nvSpPr>
        <p:spPr>
          <a:xfrm>
            <a:off x="1865125" y="4152776"/>
            <a:ext cx="3156579" cy="23684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41D4A9F-236F-1896-9DD9-25CFF844D938}"/>
              </a:ext>
            </a:extLst>
          </p:cNvPr>
          <p:cNvSpPr/>
          <p:nvPr/>
        </p:nvSpPr>
        <p:spPr>
          <a:xfrm>
            <a:off x="2003050" y="4256430"/>
            <a:ext cx="3156579" cy="23684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📈 Data Visualization</a:t>
            </a:r>
          </a:p>
          <a:p>
            <a:endParaRPr lang="en-IN" b="1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Matplotlib</a:t>
            </a:r>
            <a:r>
              <a:rPr lang="en-IN" dirty="0"/>
              <a:t> — Data visualization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Seaborn</a:t>
            </a:r>
            <a:r>
              <a:rPr lang="en-IN" dirty="0"/>
              <a:t> — Statistical visualization</a:t>
            </a:r>
          </a:p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8AFF0BB-9AB7-7884-60C7-33ADCE0023AE}"/>
              </a:ext>
            </a:extLst>
          </p:cNvPr>
          <p:cNvSpPr/>
          <p:nvPr/>
        </p:nvSpPr>
        <p:spPr>
          <a:xfrm>
            <a:off x="5592008" y="4190061"/>
            <a:ext cx="3156579" cy="23684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D07237F-3135-B1B8-2160-B0979CF1F9FF}"/>
              </a:ext>
            </a:extLst>
          </p:cNvPr>
          <p:cNvSpPr/>
          <p:nvPr/>
        </p:nvSpPr>
        <p:spPr>
          <a:xfrm>
            <a:off x="5731998" y="4293715"/>
            <a:ext cx="3156579" cy="23684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📁 Data &amp; Output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CSV Dataset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Data Cleaning &amp; Preprocessing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Statistical Analysis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Data Visualization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721" y="444374"/>
            <a:ext cx="11091322" cy="830997"/>
          </a:xfrm>
        </p:spPr>
        <p:txBody>
          <a:bodyPr>
            <a:normAutofit fontScale="90000"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GB" i="1" u="sng" dirty="0"/>
              <a:t>RESULTS - </a:t>
            </a:r>
            <a:r>
              <a:rPr lang="en-IN" i="1" u="sng" dirty="0"/>
              <a:t>Overall Seasonal Performance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EAB500-87C1-ED8B-8BBA-3C81EF21E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75371"/>
            <a:ext cx="9012836" cy="32205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505507-40F5-63FC-0CE0-9C41D67DE8A1}"/>
              </a:ext>
            </a:extLst>
          </p:cNvPr>
          <p:cNvSpPr txBox="1"/>
          <p:nvPr/>
        </p:nvSpPr>
        <p:spPr>
          <a:xfrm>
            <a:off x="1424066" y="4569668"/>
            <a:ext cx="661066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i="1" u="sng" dirty="0"/>
              <a:t>KEY RESULT</a:t>
            </a:r>
            <a:endParaRPr lang="en-IN" sz="2000" i="1" u="sng" dirty="0"/>
          </a:p>
          <a:p>
            <a:r>
              <a:rPr lang="en-IN" b="1" dirty="0"/>
              <a:t>Kharif demonstrated the strongest overall seasonal performance</a:t>
            </a:r>
            <a:r>
              <a:rPr lang="en-IN" dirty="0"/>
              <a:t>, achieving the highest average yield, profit, and water efficiency.</a:t>
            </a:r>
          </a:p>
          <a:p>
            <a:endParaRPr lang="en-IN" dirty="0"/>
          </a:p>
          <a:p>
            <a:r>
              <a:rPr lang="en-IN" dirty="0"/>
              <a:t>⭐ </a:t>
            </a:r>
            <a:r>
              <a:rPr lang="en-IN" sz="2000" dirty="0"/>
              <a:t>Kharif → Highest Yield | Profit | Water Efficiency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61585"/>
            <a:ext cx="9337473" cy="666078"/>
          </a:xfrm>
        </p:spPr>
        <p:txBody>
          <a:bodyPr>
            <a:normAutofit fontScale="90000"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GB" i="1" u="sng" dirty="0"/>
              <a:t>RESULTS - </a:t>
            </a:r>
            <a:r>
              <a:rPr lang="en-IN" i="1" u="sng" dirty="0"/>
              <a:t>CROP &amp; REGIONAL </a:t>
            </a:r>
            <a:r>
              <a:rPr lang="en-IN" i="1" dirty="0"/>
              <a:t>ANALYSIS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563" y="4711049"/>
            <a:ext cx="8929877" cy="2025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i="1" u="sng" dirty="0"/>
              <a:t>KEY FINDINGS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🌾 </a:t>
            </a:r>
            <a:r>
              <a:rPr lang="en-IN" b="1" dirty="0"/>
              <a:t>Sugarcane (Kharif) </a:t>
            </a:r>
            <a:r>
              <a:rPr lang="en-IN" dirty="0"/>
              <a:t>achieved </a:t>
            </a:r>
            <a:r>
              <a:rPr lang="en-IN" b="1" dirty="0"/>
              <a:t>the highest overall crop-season score</a:t>
            </a:r>
            <a:r>
              <a:rPr lang="en-IN" dirty="0"/>
              <a:t>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📊 Crop performance varies across different seasons and regions.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🗺️ Regional analysis highlights differences in agricultural performance across states.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469786-67D6-4FFD-A68A-FA613B662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882" y="1036668"/>
            <a:ext cx="4764541" cy="34563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90C5DE-F198-5D79-21A4-144C6E2F0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63" y="1036668"/>
            <a:ext cx="4933925" cy="31919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363C8D-3969-7329-2FD5-60120E64233A}"/>
              </a:ext>
            </a:extLst>
          </p:cNvPr>
          <p:cNvSpPr txBox="1"/>
          <p:nvPr/>
        </p:nvSpPr>
        <p:spPr>
          <a:xfrm>
            <a:off x="1304145" y="4228571"/>
            <a:ext cx="3041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/>
              <a:t>Fig. Crop × Season Yield Heatmap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556520-7960-4B4B-C0E1-4F1C5C2CA86B}"/>
              </a:ext>
            </a:extLst>
          </p:cNvPr>
          <p:cNvSpPr txBox="1"/>
          <p:nvPr/>
        </p:nvSpPr>
        <p:spPr>
          <a:xfrm>
            <a:off x="6669869" y="4493038"/>
            <a:ext cx="3343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/>
              <a:t>Fig. State × Season Yield Heatmap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97" y="276251"/>
            <a:ext cx="9863905" cy="830997"/>
          </a:xfrm>
        </p:spPr>
        <p:txBody>
          <a:bodyPr>
            <a:normAutofit fontScale="90000"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GB" i="1" u="sng" dirty="0"/>
              <a:t>RESULTS </a:t>
            </a:r>
            <a:r>
              <a:rPr lang="en-IN" i="1" u="sng" dirty="0"/>
              <a:t>— RESOURCE &amp; WATER ANALYSIS</a:t>
            </a:r>
            <a:r>
              <a:rPr lang="en-GB" i="1" u="sng" dirty="0"/>
              <a:t> </a:t>
            </a:r>
            <a:endParaRPr lang="en-IN" i="1" u="sng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5DBB28-ED91-D10D-5A95-BBD1A061E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49" y="1608409"/>
            <a:ext cx="4716876" cy="29256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A3D579-482F-D5C9-EF23-1944D7324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076" y="1551301"/>
            <a:ext cx="4901020" cy="30398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5CEBF0-06F8-946B-73E5-3AB9F97B8BFE}"/>
              </a:ext>
            </a:extLst>
          </p:cNvPr>
          <p:cNvSpPr txBox="1"/>
          <p:nvPr/>
        </p:nvSpPr>
        <p:spPr>
          <a:xfrm>
            <a:off x="755116" y="4553241"/>
            <a:ext cx="871866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i="1" u="sng" dirty="0"/>
              <a:t>KEY FINDINGS</a:t>
            </a:r>
          </a:p>
          <a:p>
            <a:r>
              <a:rPr lang="en-IN" dirty="0"/>
              <a:t>💧 </a:t>
            </a:r>
            <a:r>
              <a:rPr lang="en-IN" b="1" dirty="0"/>
              <a:t>Kharif</a:t>
            </a:r>
            <a:r>
              <a:rPr lang="en-IN" dirty="0"/>
              <a:t> showed the highest water 5.89 efficiency.</a:t>
            </a:r>
          </a:p>
          <a:p>
            <a:r>
              <a:rPr lang="en-IN" dirty="0"/>
              <a:t>📈 Water usage had the strongest resource-level relationship with yield r ≈ 0.389.</a:t>
            </a:r>
          </a:p>
          <a:p>
            <a:r>
              <a:rPr lang="en-IN" dirty="0"/>
              <a:t>🌱 Nitrogen and phosphorus showed statistically significant but </a:t>
            </a:r>
            <a:r>
              <a:rPr lang="en-IN" b="1" dirty="0"/>
              <a:t>very weak</a:t>
            </a:r>
            <a:r>
              <a:rPr lang="en-IN" dirty="0"/>
              <a:t> relationships with yield.</a:t>
            </a:r>
          </a:p>
          <a:p>
            <a:r>
              <a:rPr lang="en-IN" dirty="0"/>
              <a:t>⚠️ Fertilizer and pesticide usage did not show significant linear relationships with yield.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347971"/>
            <a:ext cx="10881459" cy="830997"/>
          </a:xfrm>
        </p:spPr>
        <p:txBody>
          <a:bodyPr>
            <a:normAutofit fontScale="90000"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GB" i="1" u="sng" dirty="0"/>
              <a:t>RESULTS </a:t>
            </a:r>
            <a:r>
              <a:rPr lang="en-IN" i="1" u="sng" dirty="0"/>
              <a:t>— ECONOMIC PERFORMANCE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A3C356-91F7-2479-4F92-1436FA8D4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230343"/>
            <a:ext cx="5165418" cy="30814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6DA105-CF7A-CEBC-6356-95D23E28C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711" y="1178968"/>
            <a:ext cx="5026148" cy="31174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93414D-5362-4402-FBA0-492444247DDB}"/>
              </a:ext>
            </a:extLst>
          </p:cNvPr>
          <p:cNvSpPr txBox="1"/>
          <p:nvPr/>
        </p:nvSpPr>
        <p:spPr>
          <a:xfrm>
            <a:off x="1162051" y="4195898"/>
            <a:ext cx="3343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/>
              <a:t>Fig. Revenue, Cost &amp; Profit by Season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2D86E6-90D4-53C5-E62F-5858CBCF4DC4}"/>
              </a:ext>
            </a:extLst>
          </p:cNvPr>
          <p:cNvSpPr txBox="1"/>
          <p:nvPr/>
        </p:nvSpPr>
        <p:spPr>
          <a:xfrm>
            <a:off x="6593073" y="4200050"/>
            <a:ext cx="3343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/>
              <a:t>Fig. Crop × Season Profit Heatmap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566105-FF24-8051-C1F3-EBFFA855CD6D}"/>
              </a:ext>
            </a:extLst>
          </p:cNvPr>
          <p:cNvSpPr txBox="1"/>
          <p:nvPr/>
        </p:nvSpPr>
        <p:spPr>
          <a:xfrm>
            <a:off x="891399" y="4596605"/>
            <a:ext cx="770493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i="1" u="sng" dirty="0"/>
              <a:t>KEY FINDINGS</a:t>
            </a:r>
          </a:p>
          <a:p>
            <a:r>
              <a:rPr lang="en-IN" dirty="0"/>
              <a:t>💰 </a:t>
            </a:r>
            <a:r>
              <a:rPr lang="en-IN" b="1" dirty="0"/>
              <a:t>Kharif</a:t>
            </a:r>
            <a:r>
              <a:rPr lang="en-IN" dirty="0"/>
              <a:t> recorded the highest average profit: </a:t>
            </a:r>
            <a:r>
              <a:rPr lang="en-IN" b="1" dirty="0"/>
              <a:t>₹179,367</a:t>
            </a:r>
            <a:endParaRPr lang="en-IN" dirty="0"/>
          </a:p>
          <a:p>
            <a:r>
              <a:rPr lang="en-IN" dirty="0"/>
              <a:t>📉 </a:t>
            </a:r>
            <a:r>
              <a:rPr lang="en-IN" b="1" dirty="0"/>
              <a:t>Zaid</a:t>
            </a:r>
            <a:r>
              <a:rPr lang="en-IN" dirty="0"/>
              <a:t> recorded negative average profit: </a:t>
            </a:r>
            <a:r>
              <a:rPr lang="en-IN" b="1" dirty="0"/>
              <a:t>−₹26,592</a:t>
            </a:r>
            <a:endParaRPr lang="en-IN" dirty="0"/>
          </a:p>
          <a:p>
            <a:r>
              <a:rPr lang="en-IN" dirty="0"/>
              <a:t>🌾 Profitability varies considerably across </a:t>
            </a:r>
            <a:r>
              <a:rPr lang="en-IN" b="1" dirty="0"/>
              <a:t>crops and seasons</a:t>
            </a:r>
            <a:r>
              <a:rPr lang="en-IN" dirty="0"/>
              <a:t>.</a:t>
            </a:r>
          </a:p>
          <a:p>
            <a:r>
              <a:rPr lang="en-IN" dirty="0"/>
              <a:t>📊 Economic performance depends on the combined pattern of </a:t>
            </a:r>
            <a:r>
              <a:rPr lang="en-IN" b="1" dirty="0"/>
              <a:t>revenue and production costs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218190"/>
            <a:ext cx="11516043" cy="904781"/>
          </a:xfrm>
        </p:spPr>
        <p:txBody>
          <a:bodyPr>
            <a:normAutofit fontScale="90000"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GB" i="1" u="sng" dirty="0"/>
              <a:t>RESULTS </a:t>
            </a:r>
            <a:r>
              <a:rPr lang="en-IN" i="1" u="sng" dirty="0"/>
              <a:t>Environmental &amp; Risk Analysis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37D95B-FD17-B893-4CE1-C947F52D6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333" y="1122971"/>
            <a:ext cx="5445852" cy="33778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0D65FA-2822-E7E2-9902-8E43B82283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087" t="6260"/>
          <a:stretch>
            <a:fillRect/>
          </a:stretch>
        </p:blipFill>
        <p:spPr>
          <a:xfrm>
            <a:off x="675958" y="1122971"/>
            <a:ext cx="5027010" cy="319604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B65BF11-DC37-D4F4-9216-B395F9099284}"/>
              </a:ext>
            </a:extLst>
          </p:cNvPr>
          <p:cNvSpPr txBox="1"/>
          <p:nvPr/>
        </p:nvSpPr>
        <p:spPr>
          <a:xfrm>
            <a:off x="675957" y="4356636"/>
            <a:ext cx="1072905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i="1" u="sng" dirty="0"/>
              <a:t>Key findings </a:t>
            </a:r>
            <a:r>
              <a:rPr lang="en-IN" b="1" dirty="0"/>
              <a:t>:ENVIRONMENTAL FINDINGS</a:t>
            </a:r>
            <a:endParaRPr lang="en-IN" dirty="0"/>
          </a:p>
          <a:p>
            <a:pPr>
              <a:buNone/>
            </a:pPr>
            <a:r>
              <a:rPr lang="en-IN" dirty="0"/>
              <a:t>🌧️ Rainfall → </a:t>
            </a:r>
            <a:r>
              <a:rPr lang="en-IN" b="1" dirty="0"/>
              <a:t>r = 0.028</a:t>
            </a:r>
            <a:br>
              <a:rPr lang="en-IN" dirty="0"/>
            </a:br>
            <a:r>
              <a:rPr lang="en-IN" dirty="0"/>
              <a:t>🌡️ Temperature → </a:t>
            </a:r>
            <a:r>
              <a:rPr lang="en-IN" b="1" dirty="0"/>
              <a:t>r = 0.009</a:t>
            </a:r>
            <a:br>
              <a:rPr lang="en-IN" dirty="0"/>
            </a:br>
            <a:r>
              <a:rPr lang="en-IN" dirty="0"/>
              <a:t>💧 Soil Moisture → </a:t>
            </a:r>
            <a:r>
              <a:rPr lang="en-IN" b="1" dirty="0"/>
              <a:t>r = 0.010</a:t>
            </a:r>
            <a:br>
              <a:rPr lang="en-IN" dirty="0"/>
            </a:br>
            <a:r>
              <a:rPr lang="en-IN" dirty="0"/>
              <a:t>☀️ Sunlight → </a:t>
            </a:r>
            <a:r>
              <a:rPr lang="en-IN" b="1" dirty="0"/>
              <a:t>r = −0.015</a:t>
            </a:r>
            <a:br>
              <a:rPr lang="en-IN" dirty="0"/>
            </a:br>
            <a:r>
              <a:rPr lang="en-IN" dirty="0"/>
              <a:t>🌱 Soil pH → </a:t>
            </a:r>
            <a:r>
              <a:rPr lang="en-IN" b="1" dirty="0"/>
              <a:t>r = −0.021</a:t>
            </a:r>
            <a:endParaRPr lang="en-IN" dirty="0"/>
          </a:p>
          <a:p>
            <a:pPr>
              <a:buNone/>
            </a:pPr>
            <a:r>
              <a:rPr lang="en-IN" dirty="0"/>
              <a:t>Overall, the environmental variables showed </a:t>
            </a:r>
            <a:r>
              <a:rPr lang="en-IN" b="1" dirty="0"/>
              <a:t>weak linear relationships with yield</a:t>
            </a:r>
            <a:r>
              <a:rPr lang="en-IN" dirty="0"/>
              <a:t> in this dataset.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i="1" u="sng" dirty="0"/>
              <a:t>RISK FINDING </a:t>
            </a:r>
            <a:r>
              <a:rPr lang="en-IN" b="1" dirty="0"/>
              <a:t>:</a:t>
            </a:r>
            <a:r>
              <a:rPr lang="en-IN" dirty="0"/>
              <a:t>⚠️ Disease/Pest Risk vs Yield → </a:t>
            </a:r>
            <a:r>
              <a:rPr lang="en-IN" b="1" dirty="0"/>
              <a:t>r = 0.013, p = 0.396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4B6C0-342A-B2C0-B340-360FA0567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719" y="190478"/>
            <a:ext cx="10928562" cy="932882"/>
          </a:xfrm>
        </p:spPr>
        <p:txBody>
          <a:bodyPr/>
          <a:lstStyle/>
          <a:p>
            <a:pPr marL="685800" indent="-685800" algn="l">
              <a:buFont typeface="Wingdings" panose="05000000000000000000" pitchFamily="2" charset="2"/>
              <a:buChar char="v"/>
            </a:pPr>
            <a:r>
              <a:rPr lang="en-IN" sz="4800" b="1" i="1" u="sng" dirty="0">
                <a:solidFill>
                  <a:schemeClr val="tx1"/>
                </a:solidFill>
              </a:rPr>
              <a:t>RESULTS: Statistical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3D4B4-3B17-E84D-1349-91C45DF6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57A199-41E1-3F59-0C2E-9EB42D51C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361286"/>
              </p:ext>
            </p:extLst>
          </p:nvPr>
        </p:nvGraphicFramePr>
        <p:xfrm>
          <a:off x="1181228" y="1585025"/>
          <a:ext cx="8596312" cy="228600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2149078">
                  <a:extLst>
                    <a:ext uri="{9D8B030D-6E8A-4147-A177-3AD203B41FA5}">
                      <a16:colId xmlns:a16="http://schemas.microsoft.com/office/drawing/2014/main" val="2952378259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301995070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1927590272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36919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Statistical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F-Statistic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p-value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4834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Seasonal Yield ANOVA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1.458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0.233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Significant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6842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Seasonal Profit ANOVA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34.598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&lt; 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Significant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8223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Water Efficiency ANOVA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6.948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Significant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3843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5FF324A-EE3D-9D16-1FEE-C8E0B576FB44}"/>
              </a:ext>
            </a:extLst>
          </p:cNvPr>
          <p:cNvSpPr txBox="1"/>
          <p:nvPr/>
        </p:nvSpPr>
        <p:spPr>
          <a:xfrm>
            <a:off x="663089" y="4163181"/>
            <a:ext cx="96953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“The ANOVA results indicate statistically significant seasonal differences in profit and water efficiency.”</a:t>
            </a:r>
          </a:p>
          <a:p>
            <a:r>
              <a:rPr lang="en-IN" sz="1600" dirty="0"/>
              <a:t>💧 WATER USED vs YIELD </a:t>
            </a:r>
          </a:p>
          <a:p>
            <a:r>
              <a:rPr lang="en-IN" sz="1600" dirty="0"/>
              <a:t>      r = 0.389 | p &lt; 0.001 </a:t>
            </a:r>
          </a:p>
          <a:p>
            <a:endParaRPr lang="en-IN" sz="1600" dirty="0"/>
          </a:p>
          <a:p>
            <a:r>
              <a:rPr lang="en-IN" sz="1600" dirty="0"/>
              <a:t>“Although Kharif had the highest average yield descriptively, the seasonal yield difference was not statistically significant.”</a:t>
            </a:r>
          </a:p>
          <a:p>
            <a:r>
              <a:rPr lang="en-IN" sz="1600" dirty="0"/>
              <a:t>⭐ Profit &amp; Water Efficiency → Significant </a:t>
            </a:r>
          </a:p>
          <a:p>
            <a:r>
              <a:rPr lang="en-IN" sz="1600" dirty="0"/>
              <a:t>📊 Yield → Not Statistically Significant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B61ABD-E58A-EF6B-B637-825EFF9B6971}"/>
              </a:ext>
            </a:extLst>
          </p:cNvPr>
          <p:cNvSpPr txBox="1"/>
          <p:nvPr/>
        </p:nvSpPr>
        <p:spPr>
          <a:xfrm>
            <a:off x="753866" y="1123360"/>
            <a:ext cx="4538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u="sng" dirty="0"/>
              <a:t>ANOVA RESULTS </a:t>
            </a:r>
          </a:p>
        </p:txBody>
      </p:sp>
    </p:spTree>
    <p:extLst>
      <p:ext uri="{BB962C8B-B14F-4D97-AF65-F5344CB8AC3E}">
        <p14:creationId xmlns:p14="http://schemas.microsoft.com/office/powerpoint/2010/main" val="4097035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4C858-573A-464B-53AB-F7F9CA5AA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49E728-BB2C-8810-100F-4F73E1A693D9}"/>
              </a:ext>
            </a:extLst>
          </p:cNvPr>
          <p:cNvSpPr txBox="1"/>
          <p:nvPr/>
        </p:nvSpPr>
        <p:spPr>
          <a:xfrm>
            <a:off x="846943" y="250048"/>
            <a:ext cx="889666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4000" b="1" i="1" u="sng" dirty="0"/>
              <a:t>RESULTS: Overall Ranking &amp; Key Findings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D99E70-F2B0-B46A-6954-6876C2CBC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98911"/>
            <a:ext cx="5733589" cy="37906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6972B0-FE5E-9911-80FE-4864CCAAD5F2}"/>
              </a:ext>
            </a:extLst>
          </p:cNvPr>
          <p:cNvSpPr txBox="1"/>
          <p:nvPr/>
        </p:nvSpPr>
        <p:spPr>
          <a:xfrm>
            <a:off x="547289" y="1886219"/>
            <a:ext cx="573359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i="1" u="sng" dirty="0"/>
              <a:t>KEY FINDINGS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i="1" u="sng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🥇 </a:t>
            </a:r>
            <a:r>
              <a:rPr lang="en-IN" b="1" dirty="0"/>
              <a:t>Kharif</a:t>
            </a:r>
            <a:r>
              <a:rPr lang="en-IN" dirty="0"/>
              <a:t> was the best-performing season overall.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🌾 </a:t>
            </a:r>
            <a:r>
              <a:rPr lang="en-IN" b="1" dirty="0"/>
              <a:t>Sugarcane (Kharif)</a:t>
            </a:r>
            <a:r>
              <a:rPr lang="en-IN" dirty="0"/>
              <a:t> achieved the highest overall crop-season score.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💰 Kharif recorded the highest average profit.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💧 Kharif achieved the highest water efficiency.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📊 Profit and water-efficiency differences across seasons were statistically significant.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⚠️ Seasonal yield differences were </a:t>
            </a:r>
            <a:r>
              <a:rPr lang="en-IN" b="1" dirty="0"/>
              <a:t>not statistically significant</a:t>
            </a:r>
            <a:r>
              <a:rPr lang="en-IN" dirty="0"/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9B507D-72A4-D562-4B3E-187672866C85}"/>
              </a:ext>
            </a:extLst>
          </p:cNvPr>
          <p:cNvSpPr/>
          <p:nvPr/>
        </p:nvSpPr>
        <p:spPr>
          <a:xfrm>
            <a:off x="959369" y="5502442"/>
            <a:ext cx="4494947" cy="11055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      🥇 </a:t>
            </a:r>
            <a:r>
              <a:rPr lang="en-IN" b="1" dirty="0"/>
              <a:t>Best:</a:t>
            </a:r>
            <a:r>
              <a:rPr lang="en-IN" dirty="0"/>
              <a:t> Sugarcane — Kharif</a:t>
            </a:r>
            <a:br>
              <a:rPr lang="en-IN" dirty="0"/>
            </a:br>
            <a:r>
              <a:rPr lang="en-IN" dirty="0"/>
              <a:t>                       </a:t>
            </a:r>
            <a:r>
              <a:rPr lang="en-IN" b="1" dirty="0"/>
              <a:t>Overall Score: 1.000</a:t>
            </a:r>
            <a:endParaRPr lang="en-IN" dirty="0"/>
          </a:p>
          <a:p>
            <a:r>
              <a:rPr lang="en-IN" dirty="0"/>
              <a:t>      📉 </a:t>
            </a:r>
            <a:r>
              <a:rPr lang="en-IN" b="1" dirty="0"/>
              <a:t>Lowest:</a:t>
            </a:r>
            <a:r>
              <a:rPr lang="en-IN" dirty="0"/>
              <a:t> Rice — Zaid</a:t>
            </a:r>
            <a:br>
              <a:rPr lang="en-IN" dirty="0"/>
            </a:br>
            <a:r>
              <a:rPr lang="en-IN" dirty="0"/>
              <a:t>                       </a:t>
            </a:r>
            <a:r>
              <a:rPr lang="en-IN" b="1" dirty="0"/>
              <a:t>Overall Score: 0.008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7410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167D2-CF38-2347-3016-028FC9CAA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376297-0FE0-247F-471A-DCFC00F84993}"/>
              </a:ext>
            </a:extLst>
          </p:cNvPr>
          <p:cNvSpPr txBox="1"/>
          <p:nvPr/>
        </p:nvSpPr>
        <p:spPr>
          <a:xfrm>
            <a:off x="1161738" y="459911"/>
            <a:ext cx="61009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b="1" i="1" u="sng" dirty="0">
                <a:solidFill>
                  <a:schemeClr val="accent1">
                    <a:lumMod val="75000"/>
                  </a:schemeClr>
                </a:solidFill>
              </a:rPr>
              <a:t>RECOMMENDATIONS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C4CE19-3346-D503-E302-EEE1FCB37851}"/>
              </a:ext>
            </a:extLst>
          </p:cNvPr>
          <p:cNvSpPr txBox="1"/>
          <p:nvPr/>
        </p:nvSpPr>
        <p:spPr>
          <a:xfrm>
            <a:off x="771993" y="1302708"/>
            <a:ext cx="95412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🌾 </a:t>
            </a:r>
            <a:r>
              <a:rPr lang="en-IN" b="1" dirty="0"/>
              <a:t>1. Focus on Seasonal Planning</a:t>
            </a:r>
            <a:br>
              <a:rPr lang="en-IN" dirty="0"/>
            </a:br>
            <a:r>
              <a:rPr lang="en-IN" dirty="0"/>
              <a:t>Use seasonal performance analysis to support crop selection and agricultural planning.</a:t>
            </a:r>
          </a:p>
          <a:p>
            <a:pPr>
              <a:buNone/>
            </a:pPr>
            <a:r>
              <a:rPr lang="en-IN" dirty="0"/>
              <a:t>💧 </a:t>
            </a:r>
            <a:r>
              <a:rPr lang="en-IN" b="1" dirty="0"/>
              <a:t>2. Improve Water Management</a:t>
            </a:r>
            <a:br>
              <a:rPr lang="en-IN" dirty="0"/>
            </a:br>
            <a:r>
              <a:rPr lang="en-IN" dirty="0"/>
              <a:t>Monitor water usage and promote efficient irrigation practices, especially in lower-efficiency seasons.</a:t>
            </a:r>
          </a:p>
          <a:p>
            <a:pPr>
              <a:buNone/>
            </a:pPr>
            <a:r>
              <a:rPr lang="en-IN" dirty="0"/>
              <a:t>📊 </a:t>
            </a:r>
            <a:r>
              <a:rPr lang="en-IN" b="1" dirty="0"/>
              <a:t>3. Optimize Resource Utilization</a:t>
            </a:r>
            <a:br>
              <a:rPr lang="en-IN" dirty="0"/>
            </a:br>
            <a:r>
              <a:rPr lang="en-IN" dirty="0"/>
              <a:t>Use data-driven analysis of fertilizers, nutrients, pesticides, and other inputs to improve resource planning.</a:t>
            </a:r>
          </a:p>
          <a:p>
            <a:pPr>
              <a:buNone/>
            </a:pPr>
            <a:r>
              <a:rPr lang="en-IN" dirty="0"/>
              <a:t>💰 </a:t>
            </a:r>
            <a:r>
              <a:rPr lang="en-IN" b="1" dirty="0"/>
              <a:t>4. Improve Economic Planning</a:t>
            </a:r>
            <a:br>
              <a:rPr lang="en-IN" dirty="0"/>
            </a:br>
            <a:r>
              <a:rPr lang="en-IN" dirty="0"/>
              <a:t>Consider revenue, production cost, and profit together when evaluating crop-season combinations.</a:t>
            </a:r>
          </a:p>
          <a:p>
            <a:pPr>
              <a:buNone/>
            </a:pPr>
            <a:r>
              <a:rPr lang="en-IN" dirty="0"/>
              <a:t>🗺️ </a:t>
            </a:r>
            <a:r>
              <a:rPr lang="en-IN" b="1" dirty="0"/>
              <a:t>5. Use Regional Insights</a:t>
            </a:r>
            <a:br>
              <a:rPr lang="en-IN" dirty="0"/>
            </a:br>
            <a:r>
              <a:rPr lang="en-IN" dirty="0"/>
              <a:t>Consider differences between states/regions when planning agricultural activities.</a:t>
            </a:r>
          </a:p>
          <a:p>
            <a:pPr>
              <a:buNone/>
            </a:pPr>
            <a:r>
              <a:rPr lang="en-IN" dirty="0"/>
              <a:t>⚠️ </a:t>
            </a:r>
            <a:r>
              <a:rPr lang="en-IN" b="1" dirty="0"/>
              <a:t>6. Monitor Risk Factors</a:t>
            </a:r>
            <a:br>
              <a:rPr lang="en-IN" dirty="0"/>
            </a:br>
            <a:r>
              <a:rPr lang="en-IN" dirty="0"/>
              <a:t>Track disease/pest risk and unusual combinations such as high resource usage with low yield or high cost with low profit.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147324-C89B-A56A-F92D-11E87A9812AF}"/>
              </a:ext>
            </a:extLst>
          </p:cNvPr>
          <p:cNvSpPr/>
          <p:nvPr/>
        </p:nvSpPr>
        <p:spPr>
          <a:xfrm>
            <a:off x="899410" y="5874435"/>
            <a:ext cx="7974767" cy="5794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Data-driven seasonal analysis can support better crop selection, resource management, and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3152891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i="1" u="sng" dirty="0">
                <a:solidFill>
                  <a:schemeClr val="accent1">
                    <a:lumMod val="75000"/>
                  </a:schemeClr>
                </a:solidFill>
              </a:rP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ECF848-BB58-5616-89B1-ACCC61E66AC5}"/>
              </a:ext>
            </a:extLst>
          </p:cNvPr>
          <p:cNvSpPr txBox="1"/>
          <p:nvPr/>
        </p:nvSpPr>
        <p:spPr>
          <a:xfrm>
            <a:off x="675957" y="1081571"/>
            <a:ext cx="1004201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🤖 </a:t>
            </a:r>
            <a:r>
              <a:rPr lang="en-IN" b="1" dirty="0"/>
              <a:t>1. Machine Learning-Based Prediction</a:t>
            </a:r>
            <a:br>
              <a:rPr lang="en-IN" dirty="0"/>
            </a:br>
            <a:r>
              <a:rPr lang="en-IN" dirty="0"/>
              <a:t>Develop models to predict crop yield, profit, and seasonal performance using historical agricultural data.</a:t>
            </a:r>
          </a:p>
          <a:p>
            <a:pPr>
              <a:buNone/>
            </a:pPr>
            <a:r>
              <a:rPr lang="en-IN" dirty="0"/>
              <a:t>🌦️ </a:t>
            </a:r>
            <a:r>
              <a:rPr lang="en-IN" b="1" dirty="0"/>
              <a:t>2. Real-Time Weather Integration</a:t>
            </a:r>
            <a:br>
              <a:rPr lang="en-IN" dirty="0"/>
            </a:br>
            <a:r>
              <a:rPr lang="en-IN" dirty="0"/>
              <a:t>Integrate live rainfall, temperature, humidity, and other weather data for dynamic analysis.</a:t>
            </a:r>
          </a:p>
          <a:p>
            <a:pPr>
              <a:buNone/>
            </a:pPr>
            <a:r>
              <a:rPr lang="en-IN" dirty="0"/>
              <a:t>🛰️ </a:t>
            </a:r>
            <a:r>
              <a:rPr lang="en-IN" b="1" dirty="0"/>
              <a:t>3. Remote Sensing &amp; Satellite Data</a:t>
            </a:r>
            <a:br>
              <a:rPr lang="en-IN" dirty="0"/>
            </a:br>
            <a:r>
              <a:rPr lang="en-IN" dirty="0"/>
              <a:t>Use satellite imagery and vegetation indices to monitor crop and regional conditions.</a:t>
            </a:r>
          </a:p>
          <a:p>
            <a:pPr>
              <a:buNone/>
            </a:pPr>
            <a:r>
              <a:rPr lang="en-IN" dirty="0"/>
              <a:t>📍 </a:t>
            </a:r>
            <a:r>
              <a:rPr lang="en-IN" b="1" dirty="0"/>
              <a:t>4. Regional-Level Prediction</a:t>
            </a:r>
            <a:br>
              <a:rPr lang="en-IN" dirty="0"/>
            </a:br>
            <a:r>
              <a:rPr lang="en-IN" dirty="0"/>
              <a:t>Extend the system to provide location-specific crop performance and seasonal recommendations.</a:t>
            </a:r>
          </a:p>
          <a:p>
            <a:pPr>
              <a:buNone/>
            </a:pPr>
            <a:r>
              <a:rPr lang="en-IN" dirty="0"/>
              <a:t>💧 </a:t>
            </a:r>
            <a:r>
              <a:rPr lang="en-IN" b="1" dirty="0"/>
              <a:t>5. Smart Resource Optimization</a:t>
            </a:r>
            <a:br>
              <a:rPr lang="en-IN" dirty="0"/>
            </a:br>
            <a:r>
              <a:rPr lang="en-IN" dirty="0"/>
              <a:t>Develop models to recommend efficient water, fertilizer, and pesticide usage.</a:t>
            </a:r>
          </a:p>
          <a:p>
            <a:pPr>
              <a:buNone/>
            </a:pPr>
            <a:r>
              <a:rPr lang="en-IN" dirty="0"/>
              <a:t>📊 </a:t>
            </a:r>
            <a:r>
              <a:rPr lang="en-IN" b="1" dirty="0"/>
              <a:t>6. Interactive Analytics Dashboard</a:t>
            </a:r>
            <a:br>
              <a:rPr lang="en-IN" dirty="0"/>
            </a:br>
            <a:r>
              <a:rPr lang="en-IN" dirty="0"/>
              <a:t>Build an interactive dashboard using </a:t>
            </a:r>
            <a:r>
              <a:rPr lang="en-IN" b="1" dirty="0"/>
              <a:t>Power BI / </a:t>
            </a:r>
            <a:r>
              <a:rPr lang="en-IN" b="1" dirty="0" err="1"/>
              <a:t>Streamlit</a:t>
            </a:r>
            <a:r>
              <a:rPr lang="en-IN" dirty="0"/>
              <a:t> for real-time exploration of agricultural insights.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219769-5FDE-71B2-FC1A-321F14634AF5}"/>
              </a:ext>
            </a:extLst>
          </p:cNvPr>
          <p:cNvSpPr/>
          <p:nvPr/>
        </p:nvSpPr>
        <p:spPr>
          <a:xfrm>
            <a:off x="1537657" y="5470465"/>
            <a:ext cx="6871825" cy="82112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Future Vision: From historical analysis → predictive analytics → intelligent agricultural decision support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94" y="527163"/>
            <a:ext cx="4735798" cy="830997"/>
          </a:xfrm>
        </p:spPr>
        <p:txBody>
          <a:bodyPr>
            <a:no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IN" sz="5400" i="1" u="sng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1234303" y="4552675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FCDE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https://github.com/divyaskrd/Seasonal-Agriculture-Performance-Analysis.git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A60248-CE47-D55C-063A-1671B67B9177}"/>
              </a:ext>
            </a:extLst>
          </p:cNvPr>
          <p:cNvSpPr txBox="1"/>
          <p:nvPr/>
        </p:nvSpPr>
        <p:spPr>
          <a:xfrm>
            <a:off x="1238783" y="2106368"/>
            <a:ext cx="61000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Repository includes: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📓 Complete Jupyter/Google </a:t>
            </a:r>
            <a:r>
              <a:rPr lang="en-IN" dirty="0" err="1"/>
              <a:t>Colab</a:t>
            </a:r>
            <a:r>
              <a:rPr lang="en-IN" dirty="0"/>
              <a:t> Notebook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📊 Dataset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📈 Analysis results &amp; exported files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📑 Project Presentation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📄 Project Documentation / README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73C103-EA41-9E76-8833-2FBD8AE4AE61}"/>
              </a:ext>
            </a:extLst>
          </p:cNvPr>
          <p:cNvSpPr txBox="1"/>
          <p:nvPr/>
        </p:nvSpPr>
        <p:spPr>
          <a:xfrm>
            <a:off x="1149199" y="4025613"/>
            <a:ext cx="6100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u="sng" dirty="0"/>
              <a:t>GitHub Link :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2846DB-0925-AFF6-BCE0-ED9A1C169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059" y="1499016"/>
            <a:ext cx="7272400" cy="497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154" y="1634044"/>
            <a:ext cx="7632708" cy="91559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685800" indent="-685800" algn="ctr">
              <a:buFont typeface="Wingdings" panose="05000000000000000000" pitchFamily="2" charset="2"/>
              <a:buChar char="v"/>
            </a:pPr>
            <a:r>
              <a:rPr lang="en-US" sz="6600" b="1" i="1" u="sng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8B2EE1-3EEC-3F73-8279-907BEE28036D}"/>
              </a:ext>
            </a:extLst>
          </p:cNvPr>
          <p:cNvSpPr txBox="1"/>
          <p:nvPr/>
        </p:nvSpPr>
        <p:spPr>
          <a:xfrm>
            <a:off x="2176624" y="3314318"/>
            <a:ext cx="695343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/>
              <a:t>Seasonal Agriculture Performance Analysis</a:t>
            </a:r>
          </a:p>
          <a:p>
            <a:pPr algn="ctr">
              <a:buNone/>
            </a:pPr>
            <a:r>
              <a:rPr lang="en-IN" dirty="0"/>
              <a:t>Presented by</a:t>
            </a:r>
            <a:br>
              <a:rPr lang="en-IN" dirty="0"/>
            </a:br>
            <a:r>
              <a:rPr lang="en-IN" dirty="0"/>
              <a:t>Divya Kishor </a:t>
            </a:r>
            <a:r>
              <a:rPr lang="en-IN" dirty="0" err="1"/>
              <a:t>Sapkale</a:t>
            </a:r>
            <a:endParaRPr lang="en-IN" dirty="0"/>
          </a:p>
          <a:p>
            <a:pPr algn="ctr">
              <a:buNone/>
            </a:pPr>
            <a:r>
              <a:rPr lang="en-IN" dirty="0" err="1"/>
              <a:t>B.Tech</a:t>
            </a:r>
            <a:r>
              <a:rPr lang="en-IN" dirty="0"/>
              <a:t> Computer Engineering</a:t>
            </a:r>
            <a:br>
              <a:rPr lang="en-IN" dirty="0"/>
            </a:br>
            <a:r>
              <a:rPr lang="en-IN" dirty="0"/>
              <a:t>Sandip Institute of Technology and Research Centre, Nashik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1607</TotalTime>
  <Words>1238</Words>
  <Application>Microsoft Office PowerPoint</Application>
  <PresentationFormat>Widescreen</PresentationFormat>
  <Paragraphs>166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Mongolian Baiti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Project Description</vt:lpstr>
      <vt:lpstr>WHO ARE THE END USERS?</vt:lpstr>
      <vt:lpstr>Technology Used</vt:lpstr>
      <vt:lpstr>RESULTS - Overall Seasonal Performance</vt:lpstr>
      <vt:lpstr>RESULTS - CROP &amp; REGIONAL ANALYSIS</vt:lpstr>
      <vt:lpstr>RESULTS — RESOURCE &amp; WATER ANALYSIS </vt:lpstr>
      <vt:lpstr>RESULTS — ECONOMIC PERFORMANCE</vt:lpstr>
      <vt:lpstr>RESULTS Environmental &amp; Risk Analysis</vt:lpstr>
      <vt:lpstr>RESULTS: Statistical Analysis</vt:lpstr>
      <vt:lpstr>PowerPoint Presentation</vt:lpstr>
      <vt:lpstr>PowerPoint Presentation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divyaksapkale01@outlook.com</cp:lastModifiedBy>
  <cp:revision>104</cp:revision>
  <dcterms:created xsi:type="dcterms:W3CDTF">2021-07-11T13:13:15Z</dcterms:created>
  <dcterms:modified xsi:type="dcterms:W3CDTF">2026-09-08T18:21:14Z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